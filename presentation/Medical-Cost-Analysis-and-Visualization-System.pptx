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Bahnschrift SemiBold Condensed" panose="020B0502040204020203" pitchFamily="34" charset="0"/>
      <p:bold r:id="rId11"/>
    </p:embeddedFont>
    <p:embeddedFont>
      <p:font typeface="Crimson Pro SemiBold" panose="020B0604020202020204" charset="0"/>
      <p:regular r:id="rId12"/>
    </p:embeddedFont>
    <p:embeddedFont>
      <p:font typeface="Heebo" pitchFamily="2" charset="-79"/>
      <p:regular r:id="rId13"/>
    </p:embeddedFont>
    <p:embeddedFont>
      <p:font typeface="Heebo Bold" charset="-79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19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Medical Cost Analysis &amp; Visualization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Data Analytics Internship Project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Presented by: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Qusai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8785" y="417165"/>
            <a:ext cx="4105721" cy="4309170"/>
          </a:xfrm>
          <a:prstGeom prst="roundRect">
            <a:avLst>
              <a:gd name="adj" fmla="val 494"/>
            </a:avLst>
          </a:prstGeom>
          <a:solidFill>
            <a:srgbClr val="2150FE"/>
          </a:solidFill>
          <a:ln/>
        </p:spPr>
      </p:sp>
      <p:sp>
        <p:nvSpPr>
          <p:cNvPr id="3" name="Text 1"/>
          <p:cNvSpPr/>
          <p:nvPr/>
        </p:nvSpPr>
        <p:spPr>
          <a:xfrm>
            <a:off x="533846" y="545902"/>
            <a:ext cx="3835598" cy="844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1,338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533846" y="1519089"/>
            <a:ext cx="3835598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Records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33846" y="1985665"/>
            <a:ext cx="3835598" cy="582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 Insights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33846" y="2697138"/>
            <a:ext cx="3835598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Thousands of patient records processed every year — yet critical cost patterns remain completely invisible inside spreadsheets.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590" y="545902"/>
            <a:ext cx="3911054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Business Problem</a:t>
            </a:r>
            <a:endParaRPr lang="en-US" sz="2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1590" y="1113086"/>
            <a:ext cx="3911054" cy="10702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71901" y="1267197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Hidden Cost Drivers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71901" y="1607046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Age, BMI, smoking status — all buried in raw CSV data with no way to surface patterns at scale.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1590" y="2312119"/>
            <a:ext cx="3911054" cy="10702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71901" y="2466231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Slow, Costly Decisions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71901" y="2806080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analysis costs insurers millions in mispriced premiums every single year.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1590" y="3511153"/>
            <a:ext cx="3911054" cy="10702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71901" y="3665265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Core Question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71901" y="4005114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Who spends the most — and why?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answer is locked inside the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1086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Python Solution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6645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data analytics pipeline that transforms raw patient records into clear, actionable business intelligence — automatically.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879550"/>
            <a:ext cx="4722763" cy="20399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23126" y="3366240"/>
            <a:ext cx="701226" cy="127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/>
              <a:t>Data Cleaning</a:t>
            </a:r>
          </a:p>
        </p:txBody>
      </p:sp>
      <p:sp>
        <p:nvSpPr>
          <p:cNvPr id="7" name="Text 3"/>
          <p:cNvSpPr/>
          <p:nvPr/>
        </p:nvSpPr>
        <p:spPr>
          <a:xfrm>
            <a:off x="1623126" y="3530283"/>
            <a:ext cx="701226" cy="20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/>
              <a:t>Missing values Data preparation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3423694" y="3366240"/>
            <a:ext cx="701226" cy="127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/>
              <a:t>Data Visualization</a:t>
            </a:r>
          </a:p>
        </p:txBody>
      </p:sp>
      <p:sp>
        <p:nvSpPr>
          <p:cNvPr id="9" name="Text 5"/>
          <p:cNvSpPr/>
          <p:nvPr/>
        </p:nvSpPr>
        <p:spPr>
          <a:xfrm>
            <a:off x="3423694" y="3530283"/>
            <a:ext cx="701226" cy="20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/>
              <a:t>Charts using Matplotlib &amp; Seaborn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725077" y="2063619"/>
            <a:ext cx="701226" cy="127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/>
              <a:t>Raw Dataset</a:t>
            </a:r>
          </a:p>
        </p:txBody>
      </p:sp>
      <p:sp>
        <p:nvSpPr>
          <p:cNvPr id="11" name="Text 7"/>
          <p:cNvSpPr/>
          <p:nvPr/>
        </p:nvSpPr>
        <p:spPr>
          <a:xfrm>
            <a:off x="786621" y="2227662"/>
            <a:ext cx="637731" cy="12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00" dirty="0"/>
              <a:t>Insurance.csv</a:t>
            </a:r>
          </a:p>
        </p:txBody>
      </p:sp>
      <p:sp>
        <p:nvSpPr>
          <p:cNvPr id="12" name="Text 8"/>
          <p:cNvSpPr/>
          <p:nvPr/>
        </p:nvSpPr>
        <p:spPr>
          <a:xfrm>
            <a:off x="4294994" y="2063619"/>
            <a:ext cx="701226" cy="25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/>
              <a:t>Business Insights</a:t>
            </a:r>
          </a:p>
        </p:txBody>
      </p:sp>
      <p:sp>
        <p:nvSpPr>
          <p:cNvPr id="13" name="Text 9"/>
          <p:cNvSpPr/>
          <p:nvPr/>
        </p:nvSpPr>
        <p:spPr>
          <a:xfrm>
            <a:off x="4418082" y="2355376"/>
            <a:ext cx="479229" cy="216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800" dirty="0"/>
              <a:t>Identify cost drivers</a:t>
            </a:r>
          </a:p>
        </p:txBody>
      </p:sp>
      <p:sp>
        <p:nvSpPr>
          <p:cNvPr id="14" name="Text 10"/>
          <p:cNvSpPr/>
          <p:nvPr/>
        </p:nvSpPr>
        <p:spPr>
          <a:xfrm>
            <a:off x="2534585" y="2063619"/>
            <a:ext cx="701226" cy="311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/>
              <a:t>Exploratory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/>
              <a:t> Data Analysis</a:t>
            </a:r>
          </a:p>
        </p:txBody>
      </p:sp>
      <p:sp>
        <p:nvSpPr>
          <p:cNvPr id="15" name="Text 11"/>
          <p:cNvSpPr/>
          <p:nvPr/>
        </p:nvSpPr>
        <p:spPr>
          <a:xfrm>
            <a:off x="2534585" y="2375403"/>
            <a:ext cx="701226" cy="30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800" dirty="0"/>
              <a:t>Statistics • Pattern      discovery</a:t>
            </a:r>
          </a:p>
        </p:txBody>
      </p:sp>
      <p:sp>
        <p:nvSpPr>
          <p:cNvPr id="16" name="Text 12"/>
          <p:cNvSpPr/>
          <p:nvPr/>
        </p:nvSpPr>
        <p:spPr>
          <a:xfrm>
            <a:off x="496119" y="407893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/>
              <a:t>A repeatable Python workflow that converts raw medical data into actionable business intelligence.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2B979B-418D-3141-B412-CD7CF44E28DC}"/>
              </a:ext>
            </a:extLst>
          </p:cNvPr>
          <p:cNvSpPr txBox="1"/>
          <p:nvPr/>
        </p:nvSpPr>
        <p:spPr>
          <a:xfrm>
            <a:off x="4572000" y="2993703"/>
            <a:ext cx="975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Decision Support</a:t>
            </a:r>
          </a:p>
          <a:p>
            <a:r>
              <a:rPr lang="en-US" sz="800" dirty="0"/>
              <a:t>Support insurance business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84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8" y="1384995"/>
            <a:ext cx="4503687" cy="21535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4" name="Text 2"/>
          <p:cNvSpPr/>
          <p:nvPr/>
        </p:nvSpPr>
        <p:spPr>
          <a:xfrm>
            <a:off x="581174" y="1427485"/>
            <a:ext cx="450368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/>
              <a:t>Medical Insurance Dataset — 1,338 patient records used for healthcare cost analysis.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759818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22051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52702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Patient age range: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18–64 years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1759818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22051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BMI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252702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Body Mass Index — key health risk indicator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1759818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22051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Smoker Status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252702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Binary classification: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Yes / No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264173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72487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Region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96119" y="403138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Northeast, Northwest, Southeast, Southwest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2433" y="3264173"/>
            <a:ext cx="283518" cy="283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72433" y="372487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Medical Charges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272433" y="4031382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Insurance cost billed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per patient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F926C2-52D5-3927-6E27-1566FFCEA02D}"/>
              </a:ext>
            </a:extLst>
          </p:cNvPr>
          <p:cNvSpPr txBox="1"/>
          <p:nvPr/>
        </p:nvSpPr>
        <p:spPr>
          <a:xfrm>
            <a:off x="6004786" y="3304089"/>
            <a:ext cx="271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Records          : 1,338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Features         : 7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Missing Values   : 0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File Format      :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11555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Visual Insights That Answer Business Questions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605036"/>
            <a:ext cx="4075881" cy="15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/>
              <a:t>Six visualizations that transform raw medical data into business insights.</a:t>
            </a:r>
            <a:endParaRPr lang="en-US" sz="1000" b="1" dirty="0"/>
          </a:p>
        </p:txBody>
      </p:sp>
      <p:sp>
        <p:nvSpPr>
          <p:cNvPr id="5" name="Shape 3"/>
          <p:cNvSpPr/>
          <p:nvPr/>
        </p:nvSpPr>
        <p:spPr>
          <a:xfrm>
            <a:off x="613470" y="880276"/>
            <a:ext cx="352202" cy="35220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357" y="984231"/>
            <a:ext cx="158428" cy="1584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2559" y="933462"/>
            <a:ext cx="3128963" cy="41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Age Distribution: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i="1" dirty="0"/>
              <a:t>How is the patient population distributed by age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3470" y="2057921"/>
            <a:ext cx="37925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are medical costs distributed across all patients?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37943" y="553105"/>
            <a:ext cx="352202" cy="35220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4830" y="649917"/>
            <a:ext cx="158428" cy="1584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8840" y="624914"/>
            <a:ext cx="3673576" cy="3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Age VS Medical charges:</a:t>
            </a:r>
            <a:b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i="1" dirty="0"/>
              <a:t>Does age influence medical insurance costs?</a:t>
            </a:r>
            <a:endParaRPr lang="en-US" sz="115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0357" y="2658294"/>
            <a:ext cx="158428" cy="158428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34830" y="2658294"/>
            <a:ext cx="158428" cy="15842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737943" y="2808167"/>
            <a:ext cx="352202" cy="352202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34830" y="2904980"/>
            <a:ext cx="158428" cy="1584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87032" y="2904980"/>
            <a:ext cx="3675384" cy="43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latin typeface="Arial" panose="020B0604020202020204" pitchFamily="34" charset="0"/>
                <a:cs typeface="Arial" panose="020B0604020202020204" pitchFamily="34" charset="0"/>
              </a:rPr>
              <a:t>Smoking Status VS charges:</a:t>
            </a:r>
          </a:p>
          <a:p>
            <a:pPr>
              <a:lnSpc>
                <a:spcPct val="104000"/>
              </a:lnSpc>
            </a:pPr>
            <a:r>
              <a:rPr lang="en-US" sz="1100" i="1" dirty="0"/>
              <a:t>How much does smoking increase medical expenses?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/>
              <a:t> 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2A78AB8-8DE2-E98D-8493-DCA6369C7B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935" y="1364060"/>
            <a:ext cx="3792587" cy="326666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880757-7BDA-36BE-F859-CC1019906AE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0592" y="1015518"/>
            <a:ext cx="4338712" cy="18131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298AEC0-48CA-4094-6049-9AF72F135FD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7942" y="3537874"/>
            <a:ext cx="3909939" cy="1553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Business Findings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38447"/>
            <a:ext cx="268768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96119" y="1013445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Smoker Cost Multiplier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96119" y="1145381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🚬</a:t>
            </a: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single biggest cost driver in the entire dataset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3228082" y="638447"/>
            <a:ext cx="2687762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28082" y="1013445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Age Risk Threshold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228082" y="1145381"/>
            <a:ext cx="26877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📈</a:t>
            </a: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Charges rise steadily after age 40 — compounding year over year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5960120" y="638447"/>
            <a:ext cx="2687687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60120" y="1013445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BMI Danger Zone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960120" y="1145381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⚖️</a:t>
            </a: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BMI above 30 correlates directly with elevated insurance charges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496119" y="1270248"/>
            <a:ext cx="8151763" cy="196155"/>
          </a:xfrm>
          <a:prstGeom prst="roundRect">
            <a:avLst>
              <a:gd name="adj" fmla="val 5421"/>
            </a:avLst>
          </a:prstGeom>
          <a:solidFill>
            <a:srgbClr val="CCD7FF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1" y="1358801"/>
            <a:ext cx="88553" cy="7084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6356" y="1323380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🗺️ </a:t>
            </a:r>
            <a:r>
              <a:rPr lang="en-US" sz="5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Southeast region</a:t>
            </a: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shows the highest average medical expenses of all four regions.</a:t>
            </a:r>
            <a:endParaRPr lang="en-US" sz="5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06216"/>
            <a:ext cx="8151763" cy="3487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6119" y="6110957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Average Medical Charges: Smokers vs Non-Smokers</a:t>
            </a:r>
            <a:endParaRPr lang="en-US" sz="5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Smoking status is the strongest cost predictor in the dataset — by a wide margin.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00881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Project to Product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051173"/>
            <a:ext cx="4722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system is a foundation. With the right investment, it becomes a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full-scale healthcare analytics platform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545282"/>
            <a:ext cx="4722763" cy="692944"/>
          </a:xfrm>
          <a:prstGeom prst="roundRect">
            <a:avLst>
              <a:gd name="adj" fmla="val 2685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20092" y="1669256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Streamlit Dashboard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1928217"/>
            <a:ext cx="44748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Interactive, real-time data exploration for non-technical users — no code required.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2346722"/>
            <a:ext cx="4722763" cy="692944"/>
          </a:xfrm>
          <a:prstGeom prst="roundRect">
            <a:avLst>
              <a:gd name="adj" fmla="val 2685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620092" y="2470696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ML Cost Prediction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0092" y="2729657"/>
            <a:ext cx="44748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models forecast individual patient charges before claims are filed.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148161"/>
            <a:ext cx="4722763" cy="692944"/>
          </a:xfrm>
          <a:prstGeom prst="roundRect">
            <a:avLst>
              <a:gd name="adj" fmla="val 2685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20092" y="3272135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Hospital Integration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0092" y="3531096"/>
            <a:ext cx="44748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Connect directly to live EHR and claims systems for continuous intelligence.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949601"/>
            <a:ext cx="4722763" cy="692944"/>
          </a:xfrm>
          <a:prstGeom prst="roundRect">
            <a:avLst>
              <a:gd name="adj" fmla="val 2685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620092" y="4073575"/>
            <a:ext cx="44748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☁️</a:t>
            </a: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Cloud Deployment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0092" y="4332536"/>
            <a:ext cx="447481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Scalable, secure, and accessible from anywhere — built for enterprise scale.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03101"/>
            <a:ext cx="14288" cy="2666256"/>
          </a:xfrm>
          <a:prstGeom prst="roundRect">
            <a:avLst>
              <a:gd name="adj" fmla="val 59998"/>
            </a:avLst>
          </a:prstGeom>
          <a:solidFill>
            <a:srgbClr val="2150FE"/>
          </a:solidFill>
          <a:ln/>
        </p:spPr>
      </p:sp>
      <p:sp>
        <p:nvSpPr>
          <p:cNvPr id="4" name="Text 1"/>
          <p:cNvSpPr/>
          <p:nvPr/>
        </p:nvSpPr>
        <p:spPr>
          <a:xfrm>
            <a:off x="695474" y="589955"/>
            <a:ext cx="4523408" cy="229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alone has no value.</a:t>
            </a:r>
            <a:endParaRPr lang="en-US" sz="3600" dirty="0"/>
          </a:p>
          <a:p>
            <a:pPr marL="0" indent="0" algn="ctr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Insights create better decisions.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96119" y="3242667"/>
            <a:ext cx="4722763" cy="14288"/>
          </a:xfrm>
          <a:prstGeom prst="roundRect">
            <a:avLst>
              <a:gd name="adj" fmla="val 59998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3430265"/>
            <a:ext cx="4722763" cy="1310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spcAft>
                <a:spcPts val="1100"/>
              </a:spcAft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proves that a single Python pipeline can turn thousands of raw records into clear, actionable intelligence — ready for real-world healthcare decisions.</a:t>
            </a:r>
            <a:endParaRPr lang="en-US" sz="1000" dirty="0"/>
          </a:p>
          <a:p>
            <a:pPr marL="0" indent="0" algn="ctr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Thank You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Questions? Let's talk data.</a:t>
            </a:r>
            <a:endParaRPr lang="en-US" sz="1000" dirty="0"/>
          </a:p>
          <a:p>
            <a:pPr marL="0" indent="0" algn="ctr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Qusai · Lovely Professional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543</Words>
  <Application>Microsoft Office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Crimson Pro SemiBold</vt:lpstr>
      <vt:lpstr>Twemoji Mozilla</vt:lpstr>
      <vt:lpstr>Arial</vt:lpstr>
      <vt:lpstr>Heebo Bold</vt:lpstr>
      <vt:lpstr>Heebo</vt:lpstr>
      <vt:lpstr>Bahnschrift SemiBold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Omer Karoum</dc:creator>
  <cp:lastModifiedBy>Hazem</cp:lastModifiedBy>
  <cp:revision>2</cp:revision>
  <dcterms:created xsi:type="dcterms:W3CDTF">2026-07-17T13:41:10Z</dcterms:created>
  <dcterms:modified xsi:type="dcterms:W3CDTF">2026-07-22T08:31:19Z</dcterms:modified>
</cp:coreProperties>
</file>
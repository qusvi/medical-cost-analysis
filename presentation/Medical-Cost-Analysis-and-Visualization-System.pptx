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embeddedFontLst>
    <p:embeddedFont>
      <p:font typeface="Bahnschrift SemiBold Condensed" panose="020B0502040204020203" pitchFamily="34" charset="0"/>
      <p:bold r:id="rId11"/>
    </p:embeddedFont>
    <p:embeddedFont>
      <p:font typeface="Crimson Pro SemiBold" panose="020B0604020202020204" charset="0"/>
      <p:regular r:id="rId12"/>
    </p:embeddedFont>
    <p:embeddedFont>
      <p:font typeface="Heebo" pitchFamily="2" charset="-79"/>
      <p:regular r:id="rId13"/>
    </p:embeddedFont>
    <p:embeddedFont>
      <p:font typeface="Heebo Bold" charset="-79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74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3191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13" Type="http://schemas.openxmlformats.org/officeDocument/2006/relationships/image" Target="../media/image27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sv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medical-cost-analysis-n9ya8jqvxyfvuk5brynd4l.streamlit.app/" TargetMode="External"/><Relationship Id="rId4" Type="http://schemas.openxmlformats.org/officeDocument/2006/relationships/hyperlink" Target="https://github.com/Qusvi/Medical-Cost-Analysi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1715914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dirty="0">
                <a:solidFill>
                  <a:srgbClr val="152D47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Medical Cost Analysis &amp; Visualization System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496119" y="2814489"/>
            <a:ext cx="4722763" cy="61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3000"/>
              </a:lnSpc>
              <a:spcAft>
                <a:spcPts val="1250"/>
              </a:spcAft>
              <a:buNone/>
            </a:pPr>
            <a:r>
              <a:rPr lang="en-US" sz="11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Python Data Analytics Internship Project</a:t>
            </a:r>
            <a:endParaRPr lang="en-US" sz="1100" dirty="0"/>
          </a:p>
          <a:p>
            <a:pPr marL="0" indent="0" algn="ctr">
              <a:lnSpc>
                <a:spcPct val="133000"/>
              </a:lnSpc>
              <a:buNone/>
            </a:pPr>
            <a:r>
              <a:rPr lang="en-US" sz="11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Presented by: </a:t>
            </a:r>
            <a:r>
              <a:rPr lang="en-US" sz="1100" b="1" dirty="0">
                <a:solidFill>
                  <a:srgbClr val="4C4C4D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Qusai</a:t>
            </a:r>
            <a:r>
              <a:rPr lang="en-US" sz="11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· Lovely Professional University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8785" y="417165"/>
            <a:ext cx="4105721" cy="4309170"/>
          </a:xfrm>
          <a:prstGeom prst="roundRect">
            <a:avLst>
              <a:gd name="adj" fmla="val 494"/>
            </a:avLst>
          </a:prstGeom>
          <a:solidFill>
            <a:srgbClr val="2150FE"/>
          </a:solidFill>
          <a:ln/>
        </p:spPr>
      </p:sp>
      <p:sp>
        <p:nvSpPr>
          <p:cNvPr id="3" name="Text 1"/>
          <p:cNvSpPr/>
          <p:nvPr/>
        </p:nvSpPr>
        <p:spPr>
          <a:xfrm>
            <a:off x="533846" y="545902"/>
            <a:ext cx="3835598" cy="844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5300" dirty="0">
                <a:solidFill>
                  <a:srgbClr val="FFFFFF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1,338</a:t>
            </a:r>
            <a:endParaRPr lang="en-US" sz="5300" dirty="0"/>
          </a:p>
        </p:txBody>
      </p:sp>
      <p:sp>
        <p:nvSpPr>
          <p:cNvPr id="4" name="Text 2"/>
          <p:cNvSpPr/>
          <p:nvPr/>
        </p:nvSpPr>
        <p:spPr>
          <a:xfrm>
            <a:off x="533846" y="1519089"/>
            <a:ext cx="3835598" cy="337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Records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33846" y="1985665"/>
            <a:ext cx="3835598" cy="582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650" dirty="0">
                <a:solidFill>
                  <a:srgbClr val="FFFFFF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Zero Insights</a:t>
            </a:r>
            <a:endParaRPr lang="en-US" sz="3650" dirty="0"/>
          </a:p>
        </p:txBody>
      </p:sp>
      <p:sp>
        <p:nvSpPr>
          <p:cNvPr id="6" name="Text 4"/>
          <p:cNvSpPr/>
          <p:nvPr/>
        </p:nvSpPr>
        <p:spPr>
          <a:xfrm>
            <a:off x="533846" y="2697138"/>
            <a:ext cx="3835598" cy="633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Thousands of patient records processed every year — yet critical cost patterns remain completely invisible inside spreadsheets.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741590" y="545902"/>
            <a:ext cx="3911054" cy="422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dirty="0">
                <a:solidFill>
                  <a:srgbClr val="152D47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The Business Problem</a:t>
            </a:r>
            <a:endParaRPr lang="en-US" sz="26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41590" y="1113086"/>
            <a:ext cx="3911054" cy="107029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971901" y="1267197"/>
            <a:ext cx="3526631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Hidden Cost Drivers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971901" y="1607046"/>
            <a:ext cx="3526631" cy="422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Age, BMI, smoking status — all buried in raw CSV data with no way to surface patterns at scale.</a:t>
            </a:r>
            <a:endParaRPr lang="en-US" sz="10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41590" y="2312119"/>
            <a:ext cx="3911054" cy="107029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971901" y="2466231"/>
            <a:ext cx="3526631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Slow, Costly Decisions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971901" y="2806080"/>
            <a:ext cx="3526631" cy="422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Manual analysis costs insurers millions in mispriced premiums every single year.</a:t>
            </a:r>
            <a:endParaRPr lang="en-US" sz="105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41590" y="3511153"/>
            <a:ext cx="3911054" cy="1070297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971901" y="3665265"/>
            <a:ext cx="3526631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The Core Question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4971901" y="4005114"/>
            <a:ext cx="3526631" cy="422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C4C4D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Who spends the most — and why?</a:t>
            </a:r>
            <a:r>
              <a:rPr lang="en-US" sz="10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The answer is locked inside the data.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610865"/>
            <a:ext cx="4722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52D47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The Python Solution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496119" y="1266453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 data analytics pipeline that transforms raw patient records into clear, actionable business intelligence — automatically.</a:t>
            </a:r>
            <a:endParaRPr lang="en-US" sz="11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19" y="1879550"/>
            <a:ext cx="4722763" cy="2039913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623126" y="3366240"/>
            <a:ext cx="701226" cy="1277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800" b="1" dirty="0"/>
              <a:t>Data Cleaning</a:t>
            </a:r>
          </a:p>
        </p:txBody>
      </p:sp>
      <p:sp>
        <p:nvSpPr>
          <p:cNvPr id="7" name="Text 3"/>
          <p:cNvSpPr/>
          <p:nvPr/>
        </p:nvSpPr>
        <p:spPr>
          <a:xfrm>
            <a:off x="1623126" y="3530283"/>
            <a:ext cx="701226" cy="204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800" dirty="0"/>
              <a:t>Missing values Data preparation</a:t>
            </a:r>
            <a:endParaRPr lang="en-US" sz="600" dirty="0"/>
          </a:p>
        </p:txBody>
      </p:sp>
      <p:sp>
        <p:nvSpPr>
          <p:cNvPr id="8" name="Text 4"/>
          <p:cNvSpPr/>
          <p:nvPr/>
        </p:nvSpPr>
        <p:spPr>
          <a:xfrm>
            <a:off x="3423694" y="3366240"/>
            <a:ext cx="701226" cy="1277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800" b="1" dirty="0"/>
              <a:t>Data Visualization</a:t>
            </a:r>
          </a:p>
        </p:txBody>
      </p:sp>
      <p:sp>
        <p:nvSpPr>
          <p:cNvPr id="9" name="Text 5"/>
          <p:cNvSpPr/>
          <p:nvPr/>
        </p:nvSpPr>
        <p:spPr>
          <a:xfrm>
            <a:off x="3423694" y="3530283"/>
            <a:ext cx="701226" cy="204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800" dirty="0"/>
              <a:t>Charts using Matplotlib &amp; Seaborn</a:t>
            </a:r>
            <a:endParaRPr lang="en-US" sz="600" dirty="0"/>
          </a:p>
        </p:txBody>
      </p:sp>
      <p:sp>
        <p:nvSpPr>
          <p:cNvPr id="10" name="Text 6"/>
          <p:cNvSpPr/>
          <p:nvPr/>
        </p:nvSpPr>
        <p:spPr>
          <a:xfrm>
            <a:off x="725077" y="2063619"/>
            <a:ext cx="701226" cy="1277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800" b="1" dirty="0"/>
              <a:t>Raw Dataset</a:t>
            </a:r>
          </a:p>
        </p:txBody>
      </p:sp>
      <p:sp>
        <p:nvSpPr>
          <p:cNvPr id="11" name="Text 7"/>
          <p:cNvSpPr/>
          <p:nvPr/>
        </p:nvSpPr>
        <p:spPr>
          <a:xfrm>
            <a:off x="786621" y="2227662"/>
            <a:ext cx="637731" cy="123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800" dirty="0"/>
              <a:t>Insurance.csv</a:t>
            </a:r>
          </a:p>
        </p:txBody>
      </p:sp>
      <p:sp>
        <p:nvSpPr>
          <p:cNvPr id="12" name="Text 8"/>
          <p:cNvSpPr/>
          <p:nvPr/>
        </p:nvSpPr>
        <p:spPr>
          <a:xfrm>
            <a:off x="4294994" y="2063619"/>
            <a:ext cx="701226" cy="25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800" b="1" dirty="0"/>
              <a:t>Business Insights</a:t>
            </a:r>
          </a:p>
        </p:txBody>
      </p:sp>
      <p:sp>
        <p:nvSpPr>
          <p:cNvPr id="13" name="Text 9"/>
          <p:cNvSpPr/>
          <p:nvPr/>
        </p:nvSpPr>
        <p:spPr>
          <a:xfrm>
            <a:off x="4418082" y="2355376"/>
            <a:ext cx="479229" cy="216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r>
              <a:rPr lang="en-US" sz="800" dirty="0"/>
              <a:t>Identify cost drivers</a:t>
            </a:r>
          </a:p>
        </p:txBody>
      </p:sp>
      <p:sp>
        <p:nvSpPr>
          <p:cNvPr id="14" name="Text 10"/>
          <p:cNvSpPr/>
          <p:nvPr/>
        </p:nvSpPr>
        <p:spPr>
          <a:xfrm>
            <a:off x="2534585" y="2063619"/>
            <a:ext cx="701226" cy="3117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800" b="1" dirty="0"/>
              <a:t>Exploratory</a:t>
            </a:r>
          </a:p>
          <a:p>
            <a:pPr marL="0" indent="0" algn="ctr">
              <a:lnSpc>
                <a:spcPct val="104000"/>
              </a:lnSpc>
              <a:buNone/>
            </a:pPr>
            <a:r>
              <a:rPr lang="en-US" sz="800" b="1" dirty="0"/>
              <a:t> Data Analysis</a:t>
            </a:r>
          </a:p>
        </p:txBody>
      </p:sp>
      <p:sp>
        <p:nvSpPr>
          <p:cNvPr id="15" name="Text 11"/>
          <p:cNvSpPr/>
          <p:nvPr/>
        </p:nvSpPr>
        <p:spPr>
          <a:xfrm>
            <a:off x="2534585" y="2375403"/>
            <a:ext cx="701226" cy="3065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r>
              <a:rPr lang="en-US" sz="800" dirty="0"/>
              <a:t>Statistics • Pattern      discovery</a:t>
            </a:r>
          </a:p>
        </p:txBody>
      </p:sp>
      <p:sp>
        <p:nvSpPr>
          <p:cNvPr id="16" name="Text 12"/>
          <p:cNvSpPr/>
          <p:nvPr/>
        </p:nvSpPr>
        <p:spPr>
          <a:xfrm>
            <a:off x="496119" y="4078932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/>
              <a:t>A repeatable Python workflow that converts raw medical data into actionable business intelligence.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2B979B-418D-3141-B412-CD7CF44E28DC}"/>
              </a:ext>
            </a:extLst>
          </p:cNvPr>
          <p:cNvSpPr txBox="1"/>
          <p:nvPr/>
        </p:nvSpPr>
        <p:spPr>
          <a:xfrm>
            <a:off x="4572000" y="2993703"/>
            <a:ext cx="9759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/>
              <a:t>Decision Support</a:t>
            </a:r>
          </a:p>
          <a:p>
            <a:r>
              <a:rPr lang="en-US" sz="800" dirty="0"/>
              <a:t>Support insurance business decisions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658490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52D47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Dataset at a Glance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496118" y="1384995"/>
            <a:ext cx="4503687" cy="215354"/>
          </a:xfrm>
          <a:prstGeom prst="roundRect">
            <a:avLst>
              <a:gd name="adj" fmla="val 7900"/>
            </a:avLst>
          </a:prstGeom>
          <a:solidFill>
            <a:srgbClr val="CCD7FF"/>
          </a:solidFill>
          <a:ln/>
        </p:spPr>
      </p:sp>
      <p:sp>
        <p:nvSpPr>
          <p:cNvPr id="4" name="Text 2"/>
          <p:cNvSpPr/>
          <p:nvPr/>
        </p:nvSpPr>
        <p:spPr>
          <a:xfrm>
            <a:off x="581174" y="1427485"/>
            <a:ext cx="4503688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/>
              <a:t>Medical Insurance Dataset — 1,338 patient records used for healthcare cost analysis.</a:t>
            </a:r>
            <a:endParaRPr lang="en-US" sz="9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1759818"/>
            <a:ext cx="283518" cy="2835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96119" y="2220516"/>
            <a:ext cx="2599134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Age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96119" y="2527027"/>
            <a:ext cx="2599134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Patient age range: </a:t>
            </a:r>
            <a:r>
              <a:rPr lang="en-US" sz="1100" b="1" dirty="0">
                <a:solidFill>
                  <a:srgbClr val="4C4C4D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18–64 years</a:t>
            </a:r>
            <a:endParaRPr lang="en-US" sz="11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72433" y="1759818"/>
            <a:ext cx="283518" cy="28351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272433" y="2220516"/>
            <a:ext cx="2599134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BMI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3272433" y="2527027"/>
            <a:ext cx="2599134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Body Mass Index — key health risk indicator</a:t>
            </a:r>
            <a:endParaRPr lang="en-US" sz="11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48747" y="1759818"/>
            <a:ext cx="283518" cy="28351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048747" y="2220516"/>
            <a:ext cx="2599134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Smoker Status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6048747" y="2527027"/>
            <a:ext cx="2599134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Binary classification: </a:t>
            </a:r>
            <a:r>
              <a:rPr lang="en-US" sz="1100" b="1" dirty="0">
                <a:solidFill>
                  <a:srgbClr val="4C4C4D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Yes / No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6119" y="3264173"/>
            <a:ext cx="283518" cy="28351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96119" y="3724870"/>
            <a:ext cx="2599134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Region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496119" y="4031382"/>
            <a:ext cx="2599134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Northeast, Northwest, Southeast, Southwest</a:t>
            </a:r>
            <a:endParaRPr lang="en-US" sz="11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272433" y="3264173"/>
            <a:ext cx="283518" cy="28351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272433" y="3724870"/>
            <a:ext cx="2599134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Medical Charges</a:t>
            </a:r>
            <a:endParaRPr lang="en-US" sz="1350" dirty="0"/>
          </a:p>
        </p:txBody>
      </p:sp>
      <p:sp>
        <p:nvSpPr>
          <p:cNvPr id="19" name="Text 12"/>
          <p:cNvSpPr/>
          <p:nvPr/>
        </p:nvSpPr>
        <p:spPr>
          <a:xfrm>
            <a:off x="3272433" y="4031382"/>
            <a:ext cx="2599134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Insurance cost billed </a:t>
            </a:r>
            <a:r>
              <a:rPr lang="en-US" sz="1100" b="1" dirty="0">
                <a:solidFill>
                  <a:srgbClr val="4C4C4D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per patient</a:t>
            </a:r>
            <a:endParaRPr 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F926C2-52D5-3927-6E27-1566FFCEA02D}"/>
              </a:ext>
            </a:extLst>
          </p:cNvPr>
          <p:cNvSpPr txBox="1"/>
          <p:nvPr/>
        </p:nvSpPr>
        <p:spPr>
          <a:xfrm>
            <a:off x="6004786" y="3304089"/>
            <a:ext cx="27130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chemeClr val="bg1">
                    <a:lumMod val="50000"/>
                  </a:schemeClr>
                </a:solidFill>
                <a:latin typeface="Bahnschrift SemiBold Condensed" panose="020B0502040204020203" pitchFamily="34" charset="0"/>
              </a:rPr>
              <a:t>Records          : 1,338</a:t>
            </a:r>
          </a:p>
          <a:p>
            <a:r>
              <a:rPr lang="en-US" sz="1400" i="1" dirty="0">
                <a:solidFill>
                  <a:schemeClr val="bg1">
                    <a:lumMod val="50000"/>
                  </a:schemeClr>
                </a:solidFill>
                <a:latin typeface="Bahnschrift SemiBold Condensed" panose="020B0502040204020203" pitchFamily="34" charset="0"/>
              </a:rPr>
              <a:t>Features         : 7</a:t>
            </a:r>
          </a:p>
          <a:p>
            <a:r>
              <a:rPr lang="en-US" sz="1400" i="1" dirty="0">
                <a:solidFill>
                  <a:schemeClr val="bg1">
                    <a:lumMod val="50000"/>
                  </a:schemeClr>
                </a:solidFill>
                <a:latin typeface="Bahnschrift SemiBold Condensed" panose="020B0502040204020203" pitchFamily="34" charset="0"/>
              </a:rPr>
              <a:t>Missing Values   : 0</a:t>
            </a:r>
          </a:p>
          <a:p>
            <a:r>
              <a:rPr lang="en-US" sz="1400" i="1" dirty="0">
                <a:solidFill>
                  <a:schemeClr val="bg1">
                    <a:lumMod val="50000"/>
                  </a:schemeClr>
                </a:solidFill>
                <a:latin typeface="Bahnschrift SemiBold Condensed" panose="020B0502040204020203" pitchFamily="34" charset="0"/>
              </a:rPr>
              <a:t>File Format      : CSV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211555"/>
            <a:ext cx="8151763" cy="3668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dirty="0">
                <a:solidFill>
                  <a:srgbClr val="152D47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Visual Insights That Answer Business Questions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96119" y="605036"/>
            <a:ext cx="4075881" cy="1506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000" dirty="0"/>
              <a:t>Six visualizations that transform raw medical data into business insights.</a:t>
            </a:r>
            <a:endParaRPr lang="en-US" sz="1000" b="1" dirty="0"/>
          </a:p>
        </p:txBody>
      </p:sp>
      <p:sp>
        <p:nvSpPr>
          <p:cNvPr id="5" name="Shape 3"/>
          <p:cNvSpPr/>
          <p:nvPr/>
        </p:nvSpPr>
        <p:spPr>
          <a:xfrm>
            <a:off x="613470" y="880276"/>
            <a:ext cx="352202" cy="352202"/>
          </a:xfrm>
          <a:prstGeom prst="ellipse">
            <a:avLst/>
          </a:prstGeom>
          <a:solidFill>
            <a:srgbClr val="2150FE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0357" y="984231"/>
            <a:ext cx="158428" cy="1584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62559" y="933462"/>
            <a:ext cx="3128963" cy="414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Age Distribution:</a:t>
            </a:r>
          </a:p>
          <a:p>
            <a:pPr marL="0" indent="0" algn="l">
              <a:lnSpc>
                <a:spcPct val="104000"/>
              </a:lnSpc>
              <a:buNone/>
            </a:pPr>
            <a:r>
              <a:rPr lang="en-US" sz="1200" i="1" dirty="0"/>
              <a:t>How is the patient population distributed by age</a:t>
            </a:r>
            <a:r>
              <a:rPr lang="en-US" sz="1200" b="1" i="1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  <a:p>
            <a:pPr marL="0" indent="0" algn="l">
              <a:lnSpc>
                <a:spcPct val="104000"/>
              </a:lnSpc>
              <a:buNone/>
            </a:pP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13470" y="2057921"/>
            <a:ext cx="3792587" cy="171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9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How are medical costs distributed across all patients?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737943" y="553105"/>
            <a:ext cx="352202" cy="352202"/>
          </a:xfrm>
          <a:prstGeom prst="ellipse">
            <a:avLst/>
          </a:prstGeom>
          <a:solidFill>
            <a:srgbClr val="2150FE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34830" y="649917"/>
            <a:ext cx="158428" cy="15842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88840" y="624914"/>
            <a:ext cx="3673576" cy="35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latin typeface="Arial" panose="020B0604020202020204" pitchFamily="34" charset="0"/>
                <a:cs typeface="Arial" panose="020B0604020202020204" pitchFamily="34" charset="0"/>
              </a:rPr>
              <a:t>Age VS Medical charges:</a:t>
            </a:r>
            <a:br>
              <a:rPr lang="en-US" sz="115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200" i="1" dirty="0"/>
              <a:t>Does age influence medical insurance costs?</a:t>
            </a:r>
            <a:endParaRPr lang="en-US" sz="1150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0357" y="2658294"/>
            <a:ext cx="158428" cy="158428"/>
          </a:xfrm>
          <a:prstGeom prst="rect">
            <a:avLst/>
          </a:prstGeom>
        </p:spPr>
      </p:pic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834830" y="2658294"/>
            <a:ext cx="158428" cy="158428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4737943" y="2808167"/>
            <a:ext cx="352202" cy="352202"/>
          </a:xfrm>
          <a:prstGeom prst="ellipse">
            <a:avLst/>
          </a:prstGeom>
          <a:solidFill>
            <a:srgbClr val="2150FE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834830" y="2904980"/>
            <a:ext cx="158428" cy="15842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187032" y="2904980"/>
            <a:ext cx="3675384" cy="433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latin typeface="Arial" panose="020B0604020202020204" pitchFamily="34" charset="0"/>
                <a:cs typeface="Arial" panose="020B0604020202020204" pitchFamily="34" charset="0"/>
              </a:rPr>
              <a:t>Smoking Status VS charges:</a:t>
            </a:r>
          </a:p>
          <a:p>
            <a:pPr>
              <a:lnSpc>
                <a:spcPct val="104000"/>
              </a:lnSpc>
            </a:pPr>
            <a:r>
              <a:rPr lang="en-US" sz="1100" i="1" dirty="0"/>
              <a:t>How much does smoking increase medical expenses?</a:t>
            </a:r>
          </a:p>
          <a:p>
            <a:pPr marL="0" indent="0" algn="l">
              <a:lnSpc>
                <a:spcPct val="104000"/>
              </a:lnSpc>
              <a:buNone/>
            </a:pPr>
            <a:r>
              <a:rPr lang="en-US" sz="1150" dirty="0"/>
              <a:t> </a:t>
            </a:r>
          </a:p>
          <a:p>
            <a:pPr marL="0" indent="0" algn="l">
              <a:lnSpc>
                <a:spcPct val="104000"/>
              </a:lnSpc>
              <a:buNone/>
            </a:pPr>
            <a:endParaRPr lang="en-US" sz="115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82A78AB8-8DE2-E98D-8493-DCA6369C7BC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8935" y="1364060"/>
            <a:ext cx="3792587" cy="32666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F880757-7BDA-36BE-F859-CC1019906AE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20592" y="1015518"/>
            <a:ext cx="4338712" cy="181313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B298AEC0-48CA-4094-6049-9AF72F135FD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37942" y="3537874"/>
            <a:ext cx="3909939" cy="15532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89855"/>
            <a:ext cx="815176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52D47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Key Business Findings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496119" y="638447"/>
            <a:ext cx="2687687" cy="233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80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3×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96119" y="1013445"/>
            <a:ext cx="2687687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65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Smoker Cost Multiplier</a:t>
            </a:r>
            <a:endParaRPr lang="en-US" sz="650" dirty="0"/>
          </a:p>
        </p:txBody>
      </p:sp>
      <p:sp>
        <p:nvSpPr>
          <p:cNvPr id="5" name="Text 3"/>
          <p:cNvSpPr/>
          <p:nvPr/>
        </p:nvSpPr>
        <p:spPr>
          <a:xfrm>
            <a:off x="496119" y="1145381"/>
            <a:ext cx="2687687" cy="85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🚬</a:t>
            </a:r>
            <a:r>
              <a:rPr lang="en-US" sz="5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The single biggest cost driver in the entire dataset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3228082" y="638447"/>
            <a:ext cx="2687762" cy="233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80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40+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28082" y="1013445"/>
            <a:ext cx="2687762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65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Age Risk Threshold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228082" y="1145381"/>
            <a:ext cx="2687762" cy="85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📈</a:t>
            </a:r>
            <a:r>
              <a:rPr lang="en-US" sz="5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Charges rise steadily after age 40 — compounding year over year</a:t>
            </a:r>
            <a:endParaRPr lang="en-US" sz="550" dirty="0"/>
          </a:p>
        </p:txBody>
      </p:sp>
      <p:sp>
        <p:nvSpPr>
          <p:cNvPr id="9" name="Text 7"/>
          <p:cNvSpPr/>
          <p:nvPr/>
        </p:nvSpPr>
        <p:spPr>
          <a:xfrm>
            <a:off x="5960120" y="638447"/>
            <a:ext cx="2687687" cy="233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80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30+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960120" y="1013445"/>
            <a:ext cx="2687687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65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BMI Danger Zone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5960120" y="1145381"/>
            <a:ext cx="2687687" cy="85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⚖️</a:t>
            </a:r>
            <a:r>
              <a:rPr lang="en-US" sz="5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BMI above 30 correlates directly with elevated insurance charges</a:t>
            </a:r>
            <a:endParaRPr lang="en-US" sz="550" dirty="0"/>
          </a:p>
        </p:txBody>
      </p:sp>
      <p:sp>
        <p:nvSpPr>
          <p:cNvPr id="12" name="Shape 10"/>
          <p:cNvSpPr/>
          <p:nvPr/>
        </p:nvSpPr>
        <p:spPr>
          <a:xfrm>
            <a:off x="496119" y="1270248"/>
            <a:ext cx="8151763" cy="196155"/>
          </a:xfrm>
          <a:prstGeom prst="roundRect">
            <a:avLst>
              <a:gd name="adj" fmla="val 5421"/>
            </a:avLst>
          </a:prstGeom>
          <a:solidFill>
            <a:srgbClr val="CCD7FF"/>
          </a:solidFill>
          <a:ln/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61" y="1358801"/>
            <a:ext cx="88553" cy="7084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26356" y="1323380"/>
            <a:ext cx="8307884" cy="85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🗺️ </a:t>
            </a:r>
            <a:r>
              <a:rPr lang="en-US" sz="55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Southeast region</a:t>
            </a:r>
            <a:r>
              <a:rPr lang="en-US" sz="5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shows the highest average medical expenses of all four regions.</a:t>
            </a:r>
            <a:endParaRPr lang="en-US" sz="5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19" y="1506216"/>
            <a:ext cx="8151763" cy="348781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96119" y="6110957"/>
            <a:ext cx="8151763" cy="170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50" b="1" dirty="0">
                <a:solidFill>
                  <a:srgbClr val="4C4C4D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Average Medical Charges: Smokers vs Non-Smokers</a:t>
            </a:r>
            <a:endParaRPr lang="en-US" sz="5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5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Smoking status is the strongest cost predictor in the dataset — by a wide margin.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500881"/>
            <a:ext cx="4722763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152D47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From Project to Product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96119" y="1051173"/>
            <a:ext cx="4722763" cy="372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This system is a foundation. With the right investment, it becomes a </a:t>
            </a:r>
            <a:r>
              <a:rPr lang="en-US" sz="950" b="1" dirty="0">
                <a:solidFill>
                  <a:srgbClr val="4C4C4D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full-scale healthcare analytics platform</a:t>
            </a:r>
            <a:r>
              <a:rPr lang="en-US" sz="9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</a:t>
            </a:r>
            <a:endParaRPr lang="en-US" sz="950" dirty="0"/>
          </a:p>
        </p:txBody>
      </p:sp>
      <p:sp>
        <p:nvSpPr>
          <p:cNvPr id="5" name="Shape 2"/>
          <p:cNvSpPr/>
          <p:nvPr/>
        </p:nvSpPr>
        <p:spPr>
          <a:xfrm>
            <a:off x="496119" y="1545282"/>
            <a:ext cx="4722763" cy="692944"/>
          </a:xfrm>
          <a:prstGeom prst="roundRect">
            <a:avLst>
              <a:gd name="adj" fmla="val 2685"/>
            </a:avLst>
          </a:prstGeom>
          <a:solidFill>
            <a:srgbClr val="F2EEEE"/>
          </a:solidFill>
          <a:ln/>
        </p:spPr>
      </p:sp>
      <p:sp>
        <p:nvSpPr>
          <p:cNvPr id="6" name="Text 3"/>
          <p:cNvSpPr/>
          <p:nvPr/>
        </p:nvSpPr>
        <p:spPr>
          <a:xfrm>
            <a:off x="620092" y="1669256"/>
            <a:ext cx="4474815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20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 Streamlit Dashboard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20092" y="1928217"/>
            <a:ext cx="4474815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Interactive, real-time data exploration for non-technical users — no code required.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96119" y="2346722"/>
            <a:ext cx="4722763" cy="692944"/>
          </a:xfrm>
          <a:prstGeom prst="roundRect">
            <a:avLst>
              <a:gd name="adj" fmla="val 2685"/>
            </a:avLst>
          </a:prstGeom>
          <a:solidFill>
            <a:srgbClr val="F2EEEE"/>
          </a:solidFill>
          <a:ln/>
        </p:spPr>
      </p:sp>
      <p:sp>
        <p:nvSpPr>
          <p:cNvPr id="9" name="Text 6"/>
          <p:cNvSpPr/>
          <p:nvPr/>
        </p:nvSpPr>
        <p:spPr>
          <a:xfrm>
            <a:off x="620092" y="2470696"/>
            <a:ext cx="4474815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🤖</a:t>
            </a:r>
            <a:r>
              <a:rPr lang="en-US" sz="120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 ML Cost Prediction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20092" y="2729657"/>
            <a:ext cx="4474815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Regression models forecast individual patient charges before claims are filed.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96119" y="3148161"/>
            <a:ext cx="4722763" cy="692944"/>
          </a:xfrm>
          <a:prstGeom prst="roundRect">
            <a:avLst>
              <a:gd name="adj" fmla="val 2685"/>
            </a:avLst>
          </a:prstGeom>
          <a:solidFill>
            <a:srgbClr val="F2EEEE"/>
          </a:solidFill>
          <a:ln/>
        </p:spPr>
      </p:sp>
      <p:sp>
        <p:nvSpPr>
          <p:cNvPr id="12" name="Text 9"/>
          <p:cNvSpPr/>
          <p:nvPr/>
        </p:nvSpPr>
        <p:spPr>
          <a:xfrm>
            <a:off x="620092" y="3272135"/>
            <a:ext cx="4474815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🏥</a:t>
            </a:r>
            <a:r>
              <a:rPr lang="en-US" sz="120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 Hospital Integration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20092" y="3531096"/>
            <a:ext cx="4474815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Connect directly to live EHR and claims systems for continuous intelligence.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96119" y="3949601"/>
            <a:ext cx="4722763" cy="692944"/>
          </a:xfrm>
          <a:prstGeom prst="roundRect">
            <a:avLst>
              <a:gd name="adj" fmla="val 2685"/>
            </a:avLst>
          </a:prstGeom>
          <a:solidFill>
            <a:srgbClr val="F2EEEE"/>
          </a:solidFill>
          <a:ln/>
        </p:spPr>
      </p:sp>
      <p:sp>
        <p:nvSpPr>
          <p:cNvPr id="15" name="Text 12"/>
          <p:cNvSpPr/>
          <p:nvPr/>
        </p:nvSpPr>
        <p:spPr>
          <a:xfrm>
            <a:off x="620092" y="4073575"/>
            <a:ext cx="4474815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☁️</a:t>
            </a:r>
            <a:r>
              <a:rPr lang="en-US" sz="120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 Cloud Deployment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20092" y="4332536"/>
            <a:ext cx="4474815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Scalable, secure, and accessible from anywhere — built for enterprise scale.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6119" y="403101"/>
            <a:ext cx="14288" cy="2666256"/>
          </a:xfrm>
          <a:prstGeom prst="roundRect">
            <a:avLst>
              <a:gd name="adj" fmla="val 59998"/>
            </a:avLst>
          </a:prstGeom>
          <a:solidFill>
            <a:srgbClr val="2150FE"/>
          </a:solidFill>
          <a:ln/>
        </p:spPr>
      </p:sp>
      <p:sp>
        <p:nvSpPr>
          <p:cNvPr id="4" name="Text 1"/>
          <p:cNvSpPr/>
          <p:nvPr/>
        </p:nvSpPr>
        <p:spPr>
          <a:xfrm>
            <a:off x="695474" y="589955"/>
            <a:ext cx="4523408" cy="22925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600" dirty="0">
                <a:solidFill>
                  <a:srgbClr val="152D47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Data alone has no value.</a:t>
            </a:r>
            <a:endParaRPr lang="en-US" sz="3600" dirty="0"/>
          </a:p>
          <a:p>
            <a:pPr marL="0" indent="0" algn="ctr">
              <a:lnSpc>
                <a:spcPct val="104000"/>
              </a:lnSpc>
              <a:buNone/>
            </a:pPr>
            <a:r>
              <a:rPr lang="en-US" sz="3600" dirty="0">
                <a:solidFill>
                  <a:srgbClr val="152D47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Insights create better decisions.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496119" y="3100054"/>
            <a:ext cx="4722763" cy="14288"/>
          </a:xfrm>
          <a:prstGeom prst="roundRect">
            <a:avLst>
              <a:gd name="adj" fmla="val 59998"/>
            </a:avLst>
          </a:prstGeom>
          <a:solidFill>
            <a:srgbClr val="4C4C4D">
              <a:alpha val="5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496119" y="3991855"/>
            <a:ext cx="4722763" cy="926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29000"/>
              </a:lnSpc>
              <a:spcAft>
                <a:spcPts val="1100"/>
              </a:spcAft>
              <a:buNone/>
            </a:pPr>
            <a:r>
              <a:rPr lang="en-US" sz="10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This project proves that a single Python pipeline can turn thousands of raw records into clear, actionable intelligence — ready for real-world healthcare decisions.</a:t>
            </a:r>
            <a:endParaRPr lang="en-US" sz="1000" dirty="0"/>
          </a:p>
          <a:p>
            <a:pPr marL="0" indent="0" algn="ctr">
              <a:lnSpc>
                <a:spcPct val="129000"/>
              </a:lnSpc>
              <a:buNone/>
            </a:pPr>
            <a:r>
              <a:rPr lang="en-US" sz="1000" b="1" dirty="0">
                <a:solidFill>
                  <a:srgbClr val="4C4C4D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Thank You</a:t>
            </a:r>
            <a:r>
              <a:rPr lang="en-US" sz="10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· Questions? Let's talk data.</a:t>
            </a:r>
            <a:endParaRPr lang="en-US" sz="1000" dirty="0"/>
          </a:p>
          <a:p>
            <a:pPr marL="0" indent="0" algn="ctr">
              <a:lnSpc>
                <a:spcPct val="129000"/>
              </a:lnSpc>
              <a:buNone/>
            </a:pPr>
            <a:r>
              <a:rPr lang="en-US" sz="1000" b="1" dirty="0">
                <a:solidFill>
                  <a:srgbClr val="2150FE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Qusai · Lovely Professional University</a:t>
            </a:r>
            <a:endParaRPr 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436494-A3B7-3173-EBB6-A57D78FCE060}"/>
              </a:ext>
            </a:extLst>
          </p:cNvPr>
          <p:cNvSpPr txBox="1"/>
          <p:nvPr/>
        </p:nvSpPr>
        <p:spPr>
          <a:xfrm>
            <a:off x="730484" y="3107198"/>
            <a:ext cx="42540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GitHub Repository:</a:t>
            </a:r>
          </a:p>
          <a:p>
            <a:r>
              <a:rPr lang="en-US" sz="1000" dirty="0"/>
              <a:t> </a:t>
            </a:r>
            <a:r>
              <a:rPr lang="en-US" sz="1000" dirty="0">
                <a:hlinkClick r:id="rId4"/>
              </a:rPr>
              <a:t>https://github.com/Qusvi/Medical-Cost-Analysis</a:t>
            </a:r>
            <a:br>
              <a:rPr lang="en-US" sz="1000" dirty="0"/>
            </a:br>
            <a:r>
              <a:rPr lang="en-US" sz="1000" dirty="0"/>
              <a:t>Live Application:</a:t>
            </a:r>
          </a:p>
          <a:p>
            <a:r>
              <a:rPr lang="en-US" sz="1000" dirty="0">
                <a:hlinkClick r:id="rId5"/>
              </a:rPr>
              <a:t>https://medical-cost-analysis-n9ya8jqvxyfvuk5brynd4l.streamlit.app/</a:t>
            </a:r>
            <a:endParaRPr lang="en-US" sz="1000" dirty="0"/>
          </a:p>
          <a:p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1125</TotalTime>
  <Words>568</Words>
  <Application>Microsoft Office PowerPoint</Application>
  <PresentationFormat>On-screen Show (16:9)</PresentationFormat>
  <Paragraphs>94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Crimson Pro SemiBold</vt:lpstr>
      <vt:lpstr>Twemoji Mozilla</vt:lpstr>
      <vt:lpstr>Heebo Bold</vt:lpstr>
      <vt:lpstr>Heebo</vt:lpstr>
      <vt:lpstr>Bahnschrift SemiBold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Omer Karoum</dc:creator>
  <cp:lastModifiedBy>Hazem</cp:lastModifiedBy>
  <cp:revision>3</cp:revision>
  <dcterms:created xsi:type="dcterms:W3CDTF">2026-07-17T13:41:10Z</dcterms:created>
  <dcterms:modified xsi:type="dcterms:W3CDTF">2026-07-22T10:13:33Z</dcterms:modified>
</cp:coreProperties>
</file>